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3"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72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PLUTO SDR Receiver Design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IN" sz="1800" dirty="0"/>
                  <a:t>A complex baseband signal is received at a receiver using a </a:t>
                </a:r>
                <a:r>
                  <a:rPr lang="en-IN" sz="1800" b="1" dirty="0" err="1"/>
                  <a:t>PlutoSDR</a:t>
                </a:r>
                <a:r>
                  <a:rPr lang="en-IN" sz="1800" b="1" dirty="0"/>
                  <a:t> Source</a:t>
                </a:r>
                <a:r>
                  <a:rPr lang="en-IN" sz="1800" dirty="0"/>
                  <a:t> block. The characteristics of the transmitted signal are largely unknown at the receiver, except for the </a:t>
                </a:r>
                <a:r>
                  <a:rPr lang="en-IN" sz="1800" b="1" dirty="0"/>
                  <a:t>sampling rate</a:t>
                </a:r>
                <a:r>
                  <a:rPr lang="en-IN" sz="1800" dirty="0"/>
                  <a:t>, which is given as:</a:t>
                </a:r>
              </a:p>
              <a:p>
                <a:pPr marL="0" indent="0">
                  <a:buNone/>
                </a:pPr>
                <a:endParaRPr lang="en-IN" sz="1800" dirty="0"/>
              </a:p>
              <a:p>
                <a:pPr marL="0" indent="0">
                  <a:buNone/>
                </a:pPr>
                <a14:m>
                  <m:oMathPara xmlns:m="http://schemas.openxmlformats.org/officeDocument/2006/math">
                    <m:oMathParaPr>
                      <m:jc m:val="centerGroup"/>
                    </m:oMathParaPr>
                    <m:oMath xmlns:m="http://schemas.openxmlformats.org/officeDocument/2006/math">
                      <m:sSub>
                        <m:sSubPr>
                          <m:ctrlPr>
                            <a:rPr lang="ar-AE" sz="1800" i="1">
                              <a:latin typeface="Cambria Math" panose="02040503050406030204" pitchFamily="18" charset="0"/>
                            </a:rPr>
                          </m:ctrlPr>
                        </m:sSubPr>
                        <m:e>
                          <m:r>
                            <a:rPr lang="ar-AE" sz="1800" i="1">
                              <a:latin typeface="Cambria Math" panose="02040503050406030204" pitchFamily="18" charset="0"/>
                            </a:rPr>
                            <m:t>𝑓</m:t>
                          </m:r>
                        </m:e>
                        <m:sub>
                          <m:r>
                            <a:rPr lang="ar-AE" sz="1800" i="1">
                              <a:latin typeface="Cambria Math" panose="02040503050406030204" pitchFamily="18" charset="0"/>
                            </a:rPr>
                            <m:t>𝑠</m:t>
                          </m:r>
                        </m:sub>
                      </m:sSub>
                      <m:r>
                        <a:rPr lang="ar-AE" sz="1800">
                          <a:latin typeface="Cambria Math" panose="02040503050406030204" pitchFamily="18" charset="0"/>
                        </a:rPr>
                        <m:t>=</m:t>
                      </m:r>
                      <m:r>
                        <a:rPr lang="ar-AE" sz="1800">
                          <a:latin typeface="Cambria Math" panose="02040503050406030204" pitchFamily="18" charset="0"/>
                        </a:rPr>
                        <m:t>2</m:t>
                      </m:r>
                      <m:r>
                        <a:rPr lang="ar-AE" sz="1800">
                          <a:latin typeface="Cambria Math" panose="02040503050406030204" pitchFamily="18" charset="0"/>
                        </a:rPr>
                        <m:t>.</m:t>
                      </m:r>
                      <m:r>
                        <a:rPr lang="ar-AE" sz="1800">
                          <a:latin typeface="Cambria Math" panose="02040503050406030204" pitchFamily="18" charset="0"/>
                        </a:rPr>
                        <m:t>048</m:t>
                      </m:r>
                      <m:r>
                        <m:rPr>
                          <m:nor/>
                        </m:rPr>
                        <a:rPr lang="ar-AE" sz="1800" i="1"/>
                        <m:t> </m:t>
                      </m:r>
                      <m:r>
                        <m:rPr>
                          <m:nor/>
                        </m:rPr>
                        <a:rPr lang="en-IN" sz="1800" i="1"/>
                        <m:t>MHz</m:t>
                      </m:r>
                    </m:oMath>
                  </m:oMathPara>
                </a14:m>
                <a:endParaRPr lang="en-IN" sz="1800" dirty="0"/>
              </a:p>
              <a:p>
                <a:r>
                  <a:rPr lang="en-IN" sz="1800" dirty="0"/>
                  <a:t>The objective is to design a </a:t>
                </a:r>
                <a:r>
                  <a:rPr lang="en-IN" sz="1800" b="1" dirty="0"/>
                  <a:t>blind receiver</a:t>
                </a:r>
                <a:r>
                  <a:rPr lang="en-IN" sz="1800" dirty="0"/>
                  <a:t> using </a:t>
                </a:r>
                <a:r>
                  <a:rPr lang="en-IN" sz="1800" b="1" dirty="0"/>
                  <a:t>GNU Radio Companion (GRC)</a:t>
                </a:r>
                <a:r>
                  <a:rPr lang="en-IN" sz="1800" dirty="0"/>
                  <a:t> that can </a:t>
                </a:r>
                <a:r>
                  <a:rPr lang="en-IN" sz="1800" dirty="0" err="1"/>
                  <a:t>analyze</a:t>
                </a:r>
                <a:r>
                  <a:rPr lang="en-IN" sz="1800" dirty="0"/>
                  <a:t> the received waveform and estimate key signal parameters, followed by successful recovery of the transmitted information.</a:t>
                </a:r>
              </a:p>
              <a:p>
                <a:pPr marL="0" indent="0">
                  <a:buNone/>
                </a:pPr>
                <a:r>
                  <a:rPr lang="en-US" sz="1800" dirty="0"/>
                  <a:t>Using only the received IQ samples, the receiver must estimate and recover the following parameters:</a:t>
                </a:r>
              </a:p>
              <a:p>
                <a:r>
                  <a:rPr lang="en-US" sz="1800" b="1" dirty="0"/>
                  <a:t>Symbol Rate</a:t>
                </a:r>
                <a:r>
                  <a:rPr lang="en-US" sz="1800" dirty="0"/>
                  <a:t> </a:t>
                </a:r>
              </a:p>
              <a:p>
                <a:r>
                  <a:rPr lang="en-US" sz="1800" b="1" dirty="0"/>
                  <a:t>Samples per Symbol (SPS)</a:t>
                </a:r>
                <a:r>
                  <a:rPr lang="en-US" sz="1800" dirty="0"/>
                  <a:t> </a:t>
                </a:r>
              </a:p>
              <a:p>
                <a:r>
                  <a:rPr lang="en-US" sz="1800" b="1" dirty="0"/>
                  <a:t>Carrier Frequency Offset (CFO)</a:t>
                </a:r>
                <a:r>
                  <a:rPr lang="en-US" sz="1800" dirty="0"/>
                  <a:t> </a:t>
                </a:r>
              </a:p>
              <a:p>
                <a:r>
                  <a:rPr lang="en-US" sz="1800" b="1" dirty="0"/>
                  <a:t>Signal Constellation (modulation type)</a:t>
                </a:r>
                <a:r>
                  <a:rPr lang="en-US" sz="1800" dirty="0"/>
                  <a:t> </a:t>
                </a:r>
              </a:p>
              <a:p>
                <a:r>
                  <a:rPr lang="en-US" sz="1800" b="1" dirty="0"/>
                  <a:t>Recovered Bitstream</a:t>
                </a:r>
                <a:r>
                  <a:rPr lang="en-US" sz="1800" dirty="0"/>
                  <a:t> </a:t>
                </a:r>
              </a:p>
              <a:p>
                <a:endParaRPr sz="1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93" t="-1348" r="-889"/>
                </a:stretch>
              </a:blipFill>
            </p:spPr>
            <p:txBody>
              <a:bodyPr/>
              <a:lstStyle/>
              <a:p>
                <a:r>
                  <a:rPr lang="en-IN">
                    <a:noFill/>
                  </a:rPr>
                  <a:t> </a:t>
                </a:r>
              </a:p>
            </p:txBody>
          </p:sp>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A203437-703A-4E00-A8C0-91D328D6C7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3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41756" y="502400"/>
            <a:ext cx="2525379" cy="1818064"/>
          </a:xfrm>
        </p:spPr>
        <p:txBody>
          <a:bodyPr>
            <a:normAutofit/>
          </a:bodyPr>
          <a:lstStyle/>
          <a:p>
            <a:r>
              <a:rPr lang="en-IN" sz="2400"/>
              <a:t>Symbol Rate &amp; SPS Estimation</a:t>
            </a:r>
          </a:p>
        </p:txBody>
      </p:sp>
      <p:pic>
        <p:nvPicPr>
          <p:cNvPr id="4" name="Picture 3">
            <a:extLst>
              <a:ext uri="{FF2B5EF4-FFF2-40B4-BE49-F238E27FC236}">
                <a16:creationId xmlns:a16="http://schemas.microsoft.com/office/drawing/2014/main" id="{1F9EE71F-222C-ECDA-4D63-86F1202C1D0E}"/>
              </a:ext>
            </a:extLst>
          </p:cNvPr>
          <p:cNvPicPr>
            <a:picLocks noChangeAspect="1"/>
          </p:cNvPicPr>
          <p:nvPr/>
        </p:nvPicPr>
        <p:blipFill>
          <a:blip r:embed="rId2"/>
          <a:srcRect l="2756" r="13281" b="1"/>
          <a:stretch>
            <a:fillRect/>
          </a:stretch>
        </p:blipFill>
        <p:spPr>
          <a:xfrm>
            <a:off x="3509416" y="79122"/>
            <a:ext cx="5589601" cy="2696173"/>
          </a:xfrm>
          <a:prstGeom prst="rect">
            <a:avLst/>
          </a:prstGeom>
        </p:spPr>
      </p:pic>
      <p:sp>
        <p:nvSpPr>
          <p:cNvPr id="22" name="Rectangle 21">
            <a:extLst>
              <a:ext uri="{FF2B5EF4-FFF2-40B4-BE49-F238E27FC236}">
                <a16:creationId xmlns:a16="http://schemas.microsoft.com/office/drawing/2014/main" id="{CD84038B-4A56-439B-A184-79B2D45066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762729"/>
            <a:ext cx="9144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5" name="Picture 4">
            <a:extLst>
              <a:ext uri="{FF2B5EF4-FFF2-40B4-BE49-F238E27FC236}">
                <a16:creationId xmlns:a16="http://schemas.microsoft.com/office/drawing/2014/main" id="{0F8357C1-F4F2-7392-EC5B-3A44258BE223}"/>
              </a:ext>
            </a:extLst>
          </p:cNvPr>
          <p:cNvPicPr>
            <a:picLocks noChangeAspect="1"/>
          </p:cNvPicPr>
          <p:nvPr/>
        </p:nvPicPr>
        <p:blipFill>
          <a:blip r:embed="rId3"/>
          <a:srcRect l="27280" r="27913" b="3"/>
          <a:stretch>
            <a:fillRect/>
          </a:stretch>
        </p:blipFill>
        <p:spPr>
          <a:xfrm>
            <a:off x="20" y="2826737"/>
            <a:ext cx="3464414" cy="4078472"/>
          </a:xfrm>
          <a:prstGeom prst="rect">
            <a:avLst/>
          </a:prstGeom>
        </p:spPr>
      </p:pic>
      <p:sp>
        <p:nvSpPr>
          <p:cNvPr id="3" name="Content Placeholder 2"/>
          <p:cNvSpPr>
            <a:spLocks noGrp="1"/>
          </p:cNvSpPr>
          <p:nvPr>
            <p:ph idx="1"/>
          </p:nvPr>
        </p:nvSpPr>
        <p:spPr>
          <a:xfrm>
            <a:off x="4087224" y="3455208"/>
            <a:ext cx="4306824" cy="2344708"/>
          </a:xfrm>
        </p:spPr>
        <p:txBody>
          <a:bodyPr anchor="ctr">
            <a:normAutofit/>
          </a:bodyPr>
          <a:lstStyle/>
          <a:p>
            <a:pPr>
              <a:lnSpc>
                <a:spcPct val="90000"/>
              </a:lnSpc>
            </a:pPr>
            <a:r>
              <a:rPr lang="en-IN" sz="1700" dirty="0"/>
              <a:t>Method: x(t)·x*(t) → |x(t)|²</a:t>
            </a:r>
          </a:p>
          <a:p>
            <a:pPr>
              <a:lnSpc>
                <a:spcPct val="90000"/>
              </a:lnSpc>
            </a:pPr>
            <a:endParaRPr lang="en-IN" sz="1700" dirty="0"/>
          </a:p>
          <a:p>
            <a:pPr>
              <a:lnSpc>
                <a:spcPct val="90000"/>
              </a:lnSpc>
            </a:pPr>
            <a:r>
              <a:rPr lang="en-IN" sz="1700" dirty="0"/>
              <a:t>• Removes phase &amp; frequency</a:t>
            </a:r>
          </a:p>
          <a:p>
            <a:pPr>
              <a:lnSpc>
                <a:spcPct val="90000"/>
              </a:lnSpc>
            </a:pPr>
            <a:r>
              <a:rPr lang="en-IN" sz="1700" dirty="0"/>
              <a:t>• Periodicity reveals symbol rate</a:t>
            </a:r>
          </a:p>
          <a:p>
            <a:pPr>
              <a:lnSpc>
                <a:spcPct val="90000"/>
              </a:lnSpc>
            </a:pPr>
            <a:endParaRPr lang="en-IN" sz="1700" dirty="0"/>
          </a:p>
          <a:p>
            <a:pPr>
              <a:lnSpc>
                <a:spcPct val="90000"/>
              </a:lnSpc>
            </a:pPr>
            <a:r>
              <a:rPr lang="en-IN" sz="1700" dirty="0"/>
              <a:t>Result:</a:t>
            </a:r>
          </a:p>
          <a:p>
            <a:pPr>
              <a:lnSpc>
                <a:spcPct val="90000"/>
              </a:lnSpc>
            </a:pPr>
            <a:r>
              <a:rPr lang="en-IN" sz="1700" dirty="0"/>
              <a:t>Symbol Rate ≈ 256 kHz(peak)</a:t>
            </a:r>
          </a:p>
          <a:p>
            <a:pPr>
              <a:lnSpc>
                <a:spcPct val="90000"/>
              </a:lnSpc>
            </a:pPr>
            <a:r>
              <a:rPr lang="en-IN" sz="1700" dirty="0"/>
              <a:t>SPS = 2048k / 256k = 8</a:t>
            </a:r>
          </a:p>
        </p:txBody>
      </p:sp>
      <p:sp>
        <p:nvSpPr>
          <p:cNvPr id="24" name="Rectangle 23">
            <a:extLst>
              <a:ext uri="{FF2B5EF4-FFF2-40B4-BE49-F238E27FC236}">
                <a16:creationId xmlns:a16="http://schemas.microsoft.com/office/drawing/2014/main" id="{4F96EE13-2C4D-4262-812E-DDE5FC35F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429" y="3404996"/>
            <a:ext cx="6858002" cy="4800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Freeform: Shape 25">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4027"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29184" y="859536"/>
            <a:ext cx="3624602" cy="1243584"/>
          </a:xfrm>
        </p:spPr>
        <p:txBody>
          <a:bodyPr>
            <a:normAutofit/>
          </a:bodyPr>
          <a:lstStyle/>
          <a:p>
            <a:r>
              <a:rPr lang="en-IN" sz="3000"/>
              <a:t>Constellation Estimation</a:t>
            </a:r>
          </a:p>
        </p:txBody>
      </p:sp>
      <p:sp>
        <p:nvSpPr>
          <p:cNvPr id="28" name="Rectangle 27">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 name="Rectangle 29">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185062"/>
            <a:ext cx="373761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329184" y="2512611"/>
            <a:ext cx="3624602" cy="3664351"/>
          </a:xfrm>
        </p:spPr>
        <p:txBody>
          <a:bodyPr>
            <a:normAutofit/>
          </a:bodyPr>
          <a:lstStyle/>
          <a:p>
            <a:r>
              <a:rPr lang="en-US" sz="1600" dirty="0"/>
              <a:t>Without CFO correction:</a:t>
            </a:r>
          </a:p>
          <a:p>
            <a:r>
              <a:rPr lang="en-US" sz="1600" dirty="0"/>
              <a:t>• Constellation rotates</a:t>
            </a:r>
          </a:p>
          <a:p>
            <a:r>
              <a:rPr lang="en-US" sz="1600" dirty="0"/>
              <a:t>• 4 points observed</a:t>
            </a:r>
          </a:p>
          <a:p>
            <a:endParaRPr lang="en-US" sz="1600" dirty="0"/>
          </a:p>
          <a:p>
            <a:r>
              <a:rPr lang="en-US" sz="1600" dirty="0"/>
              <a:t>Inference:</a:t>
            </a:r>
          </a:p>
          <a:p>
            <a:r>
              <a:rPr lang="en-US" sz="1600" dirty="0"/>
              <a:t>QPSK or 4-QAM</a:t>
            </a:r>
          </a:p>
        </p:txBody>
      </p:sp>
      <p:pic>
        <p:nvPicPr>
          <p:cNvPr id="6" name="Picture 5">
            <a:extLst>
              <a:ext uri="{FF2B5EF4-FFF2-40B4-BE49-F238E27FC236}">
                <a16:creationId xmlns:a16="http://schemas.microsoft.com/office/drawing/2014/main" id="{5EFD4B4E-5034-B11E-70DA-6D98383E9241}"/>
              </a:ext>
            </a:extLst>
          </p:cNvPr>
          <p:cNvPicPr>
            <a:picLocks noChangeAspect="1"/>
          </p:cNvPicPr>
          <p:nvPr/>
        </p:nvPicPr>
        <p:blipFill>
          <a:blip r:embed="rId2"/>
          <a:srcRect l="16427" t="23962" r="24698" b="16967"/>
          <a:stretch>
            <a:fillRect/>
          </a:stretch>
        </p:blipFill>
        <p:spPr>
          <a:xfrm>
            <a:off x="5097188" y="4133870"/>
            <a:ext cx="3851789" cy="2019259"/>
          </a:xfrm>
          <a:prstGeom prst="rect">
            <a:avLst/>
          </a:prstGeom>
        </p:spPr>
      </p:pic>
      <p:pic>
        <p:nvPicPr>
          <p:cNvPr id="5" name="Picture 4">
            <a:extLst>
              <a:ext uri="{FF2B5EF4-FFF2-40B4-BE49-F238E27FC236}">
                <a16:creationId xmlns:a16="http://schemas.microsoft.com/office/drawing/2014/main" id="{1B6D6DBD-D855-882F-5BEC-65D8E3164C86}"/>
              </a:ext>
            </a:extLst>
          </p:cNvPr>
          <p:cNvPicPr>
            <a:picLocks noChangeAspect="1"/>
          </p:cNvPicPr>
          <p:nvPr/>
        </p:nvPicPr>
        <p:blipFill>
          <a:blip r:embed="rId3"/>
          <a:stretch>
            <a:fillRect/>
          </a:stretch>
        </p:blipFill>
        <p:spPr>
          <a:xfrm>
            <a:off x="3293806" y="621749"/>
            <a:ext cx="5837704" cy="280725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0759" y="3752849"/>
            <a:ext cx="2468166" cy="2452687"/>
          </a:xfrm>
        </p:spPr>
        <p:txBody>
          <a:bodyPr anchor="ctr">
            <a:normAutofit/>
          </a:bodyPr>
          <a:lstStyle/>
          <a:p>
            <a:r>
              <a:rPr lang="en-IN" sz="3100"/>
              <a:t>CFO Estimation</a:t>
            </a:r>
          </a:p>
        </p:txBody>
      </p:sp>
      <p:pic>
        <p:nvPicPr>
          <p:cNvPr id="4" name="Picture 3">
            <a:extLst>
              <a:ext uri="{FF2B5EF4-FFF2-40B4-BE49-F238E27FC236}">
                <a16:creationId xmlns:a16="http://schemas.microsoft.com/office/drawing/2014/main" id="{E718FCDB-8B63-D3A6-AA8D-DF378AB1C08A}"/>
              </a:ext>
            </a:extLst>
          </p:cNvPr>
          <p:cNvPicPr>
            <a:picLocks noChangeAspect="1"/>
          </p:cNvPicPr>
          <p:nvPr/>
        </p:nvPicPr>
        <p:blipFill>
          <a:blip r:embed="rId2"/>
          <a:srcRect b="23072"/>
          <a:stretch>
            <a:fillRect/>
          </a:stretch>
        </p:blipFill>
        <p:spPr>
          <a:xfrm>
            <a:off x="0" y="42246"/>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272109" y="1679231"/>
                <a:ext cx="3871891" cy="2676460"/>
              </a:xfrm>
            </p:spPr>
            <p:txBody>
              <a:bodyPr anchor="ctr">
                <a:normAutofit/>
              </a:bodyPr>
              <a:lstStyle/>
              <a:p>
                <a:r>
                  <a:rPr lang="en-IN" sz="1200" dirty="0"/>
                  <a:t>Method: Raise signal to power</a:t>
                </a:r>
              </a:p>
              <a:p>
                <a:r>
                  <a:rPr lang="en-IN" sz="1200" b="1" dirty="0"/>
                  <a:t>Implementation</a:t>
                </a:r>
              </a:p>
              <a:p>
                <a:r>
                  <a:rPr lang="en-IN" sz="1200" dirty="0"/>
                  <a:t>In GNU Radio, this is achieved using successive </a:t>
                </a:r>
                <a:r>
                  <a:rPr lang="en-IN" sz="1200" b="1" dirty="0"/>
                  <a:t>Multiply blocks</a:t>
                </a:r>
                <a:r>
                  <a:rPr lang="en-IN" sz="1200" dirty="0"/>
                  <a:t> to compute:</a:t>
                </a:r>
              </a:p>
              <a:p>
                <a14:m>
                  <m:oMath xmlns:m="http://schemas.openxmlformats.org/officeDocument/2006/math">
                    <m:sSup>
                      <m:sSupPr>
                        <m:ctrlPr>
                          <a:rPr lang="ar-AE" sz="1200" i="1">
                            <a:latin typeface="Cambria Math" panose="02040503050406030204" pitchFamily="18" charset="0"/>
                          </a:rPr>
                        </m:ctrlPr>
                      </m:sSupPr>
                      <m:e>
                        <m:r>
                          <a:rPr lang="ar-AE" sz="1200" i="1">
                            <a:latin typeface="Cambria Math" panose="02040503050406030204" pitchFamily="18" charset="0"/>
                          </a:rPr>
                          <m:t>𝑥</m:t>
                        </m:r>
                      </m:e>
                      <m:sup>
                        <m:r>
                          <a:rPr lang="ar-AE" sz="1200">
                            <a:latin typeface="Cambria Math" panose="02040503050406030204" pitchFamily="18" charset="0"/>
                          </a:rPr>
                          <m:t>2</m:t>
                        </m:r>
                      </m:sup>
                    </m:sSup>
                    <m:d>
                      <m:dPr>
                        <m:ctrlPr>
                          <a:rPr lang="ar-AE" sz="1200" i="1">
                            <a:latin typeface="Cambria Math" panose="02040503050406030204" pitchFamily="18" charset="0"/>
                          </a:rPr>
                        </m:ctrlPr>
                      </m:dPr>
                      <m:e>
                        <m:r>
                          <a:rPr lang="ar-AE" sz="1200" i="1">
                            <a:latin typeface="Cambria Math" panose="02040503050406030204" pitchFamily="18" charset="0"/>
                          </a:rPr>
                          <m:t>𝑡</m:t>
                        </m:r>
                      </m:e>
                    </m:d>
                  </m:oMath>
                </a14:m>
                <a:r>
                  <a:rPr lang="ar-AE" sz="1200" dirty="0"/>
                  <a:t>( 2</a:t>
                </a:r>
                <a:r>
                  <a:rPr lang="en-IN" sz="1200" dirty="0"/>
                  <a:t>multiplications</a:t>
                </a:r>
              </a:p>
              <a:p>
                <a14:m>
                  <m:oMath xmlns:m="http://schemas.openxmlformats.org/officeDocument/2006/math">
                    <m:sSup>
                      <m:sSupPr>
                        <m:ctrlPr>
                          <a:rPr lang="ar-AE" sz="1200" i="1">
                            <a:latin typeface="Cambria Math" panose="02040503050406030204" pitchFamily="18" charset="0"/>
                          </a:rPr>
                        </m:ctrlPr>
                      </m:sSupPr>
                      <m:e>
                        <m:r>
                          <a:rPr lang="ar-AE" sz="1200" i="1">
                            <a:latin typeface="Cambria Math" panose="02040503050406030204" pitchFamily="18" charset="0"/>
                          </a:rPr>
                          <m:t>𝑥</m:t>
                        </m:r>
                      </m:e>
                      <m:sup>
                        <m:r>
                          <a:rPr lang="ar-AE" sz="1200">
                            <a:latin typeface="Cambria Math" panose="02040503050406030204" pitchFamily="18" charset="0"/>
                          </a:rPr>
                          <m:t>4</m:t>
                        </m:r>
                      </m:sup>
                    </m:sSup>
                    <m:d>
                      <m:dPr>
                        <m:ctrlPr>
                          <a:rPr lang="ar-AE" sz="1200" i="1">
                            <a:latin typeface="Cambria Math" panose="02040503050406030204" pitchFamily="18" charset="0"/>
                          </a:rPr>
                        </m:ctrlPr>
                      </m:dPr>
                      <m:e>
                        <m:r>
                          <a:rPr lang="ar-AE" sz="1200" i="1">
                            <a:latin typeface="Cambria Math" panose="02040503050406030204" pitchFamily="18" charset="0"/>
                          </a:rPr>
                          <m:t>𝑡</m:t>
                        </m:r>
                      </m:e>
                    </m:d>
                  </m:oMath>
                </a14:m>
                <a:r>
                  <a:rPr lang="ar-AE" sz="1200" dirty="0"/>
                  <a:t>(4</a:t>
                </a:r>
                <a:r>
                  <a:rPr lang="en-IN" sz="1200" dirty="0"/>
                  <a:t>multiplications</a:t>
                </a:r>
              </a:p>
              <a:p>
                <a:r>
                  <a:rPr lang="en-IN" sz="1200" dirty="0"/>
                  <a:t>The resulting signal is then passed to a </a:t>
                </a:r>
                <a:r>
                  <a:rPr lang="en-IN" sz="1200" b="1" dirty="0"/>
                  <a:t>Frequency Sink (FFT)</a:t>
                </a:r>
                <a:r>
                  <a:rPr lang="en-IN" sz="1200" dirty="0"/>
                  <a:t>.</a:t>
                </a:r>
              </a:p>
              <a:p>
                <a:endParaRPr lang="en-IN" sz="1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272109" y="1679231"/>
                <a:ext cx="3871891" cy="2676460"/>
              </a:xfr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1461B71-25F7-0171-A0F5-DFA702514345}"/>
                  </a:ext>
                </a:extLst>
              </p:cNvPr>
              <p:cNvSpPr txBox="1"/>
              <p:nvPr/>
            </p:nvSpPr>
            <p:spPr>
              <a:xfrm>
                <a:off x="2528810" y="4075471"/>
                <a:ext cx="4572000" cy="2588529"/>
              </a:xfrm>
              <a:prstGeom prst="rect">
                <a:avLst/>
              </a:prstGeom>
              <a:noFill/>
            </p:spPr>
            <p:txBody>
              <a:bodyPr wrap="square">
                <a:spAutoFit/>
              </a:bodyPr>
              <a:lstStyle/>
              <a:p>
                <a:r>
                  <a:rPr lang="en-IN" sz="1400" b="1" dirty="0"/>
                  <a:t>Observation</a:t>
                </a:r>
              </a:p>
              <a:p>
                <a:r>
                  <a:rPr lang="en-IN" sz="1400" dirty="0"/>
                  <a:t>Peaks were observed after </a:t>
                </a:r>
                <a:r>
                  <a:rPr lang="en-IN" sz="1400" b="1" dirty="0"/>
                  <a:t>2 multiplications</a:t>
                </a:r>
                <a:r>
                  <a:rPr lang="en-IN" sz="1400" dirty="0"/>
                  <a:t> and again after </a:t>
                </a:r>
                <a:r>
                  <a:rPr lang="en-IN" sz="1400" b="1" dirty="0"/>
                  <a:t>4 multiplications</a:t>
                </a:r>
                <a:r>
                  <a:rPr lang="en-IN" sz="1400" dirty="0"/>
                  <a:t>. </a:t>
                </a:r>
              </a:p>
              <a:p>
                <a:r>
                  <a:rPr lang="en-IN" sz="1400" dirty="0"/>
                  <a:t>The peaks after 4 multiplications correspond to: </a:t>
                </a:r>
              </a:p>
              <a:p>
                <a:pPr/>
                <a14:m>
                  <m:oMathPara xmlns:m="http://schemas.openxmlformats.org/officeDocument/2006/math">
                    <m:oMathParaPr>
                      <m:jc m:val="centerGroup"/>
                    </m:oMathParaPr>
                    <m:oMath xmlns:m="http://schemas.openxmlformats.org/officeDocument/2006/math">
                      <m:sSub>
                        <m:sSubPr>
                          <m:ctrlPr>
                            <a:rPr lang="ar-AE" sz="1400" i="1">
                              <a:latin typeface="Cambria Math" panose="02040503050406030204" pitchFamily="18" charset="0"/>
                            </a:rPr>
                          </m:ctrlPr>
                        </m:sSubPr>
                        <m:e>
                          <m:r>
                            <a:rPr lang="ar-AE" sz="1400" i="1">
                              <a:latin typeface="Cambria Math" panose="02040503050406030204" pitchFamily="18" charset="0"/>
                            </a:rPr>
                            <m:t>𝑓</m:t>
                          </m:r>
                        </m:e>
                        <m:sub>
                          <m:r>
                            <a:rPr lang="ar-AE" sz="1400" i="1">
                              <a:latin typeface="Cambria Math" panose="02040503050406030204" pitchFamily="18" charset="0"/>
                            </a:rPr>
                            <m:t>𝑝𝑒𝑎𝑘</m:t>
                          </m:r>
                        </m:sub>
                      </m:sSub>
                      <m:r>
                        <a:rPr lang="ar-AE" sz="1400">
                          <a:latin typeface="Cambria Math" panose="02040503050406030204" pitchFamily="18" charset="0"/>
                        </a:rPr>
                        <m:t>=</m:t>
                      </m:r>
                      <m:r>
                        <a:rPr lang="ar-AE" sz="1400">
                          <a:latin typeface="Cambria Math" panose="02040503050406030204" pitchFamily="18" charset="0"/>
                        </a:rPr>
                        <m:t>4</m:t>
                      </m:r>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i="1">
                              <a:latin typeface="Cambria Math" panose="02040503050406030204" pitchFamily="18" charset="0"/>
                            </a:rPr>
                            <m:t>𝑓</m:t>
                          </m:r>
                        </m:e>
                        <m:sub>
                          <m:r>
                            <a:rPr lang="ar-AE" sz="1400" i="1">
                              <a:latin typeface="Cambria Math" panose="02040503050406030204" pitchFamily="18" charset="0"/>
                            </a:rPr>
                            <m:t>𝑐𝑓𝑜</m:t>
                          </m:r>
                        </m:sub>
                      </m:sSub>
                    </m:oMath>
                  </m:oMathPara>
                </a14:m>
                <a:endParaRPr lang="ar-AE" sz="1400" dirty="0"/>
              </a:p>
              <a:p>
                <a:br>
                  <a:rPr lang="ar-AE" sz="1400" dirty="0"/>
                </a:br>
                <a:endParaRPr lang="ar-AE" sz="1400" dirty="0"/>
              </a:p>
              <a:p>
                <a:r>
                  <a:rPr lang="en-IN" sz="1400" b="1" dirty="0"/>
                  <a:t> Final Estimation</a:t>
                </a:r>
              </a:p>
              <a:p>
                <a:r>
                  <a:rPr lang="en-IN" sz="1400" dirty="0"/>
                  <a:t>The actual CFO is obtained as:</a:t>
                </a:r>
              </a:p>
              <a:p>
                <a14:m>
                  <m:oMath xmlns:m="http://schemas.openxmlformats.org/officeDocument/2006/math">
                    <m:sSub>
                      <m:sSubPr>
                        <m:ctrlPr>
                          <a:rPr lang="ar-AE" sz="1400" i="1">
                            <a:latin typeface="Cambria Math" panose="02040503050406030204" pitchFamily="18" charset="0"/>
                          </a:rPr>
                        </m:ctrlPr>
                      </m:sSubPr>
                      <m:e>
                        <m:r>
                          <a:rPr lang="ar-AE" sz="1400" i="1">
                            <a:latin typeface="Cambria Math" panose="02040503050406030204" pitchFamily="18" charset="0"/>
                          </a:rPr>
                          <m:t>𝑓</m:t>
                        </m:r>
                      </m:e>
                      <m:sub>
                        <m:r>
                          <a:rPr lang="ar-AE" sz="1400" i="1">
                            <a:latin typeface="Cambria Math" panose="02040503050406030204" pitchFamily="18" charset="0"/>
                          </a:rPr>
                          <m:t>𝑐𝑓𝑜</m:t>
                        </m:r>
                      </m:sub>
                    </m:sSub>
                    <m:r>
                      <a:rPr lang="ar-AE" sz="1400">
                        <a:latin typeface="Cambria Math" panose="02040503050406030204" pitchFamily="18" charset="0"/>
                      </a:rPr>
                      <m:t>=</m:t>
                    </m:r>
                    <m:f>
                      <m:fPr>
                        <m:ctrlPr>
                          <a:rPr lang="ar-AE" sz="1400" i="1">
                            <a:latin typeface="Cambria Math" panose="02040503050406030204" pitchFamily="18" charset="0"/>
                          </a:rPr>
                        </m:ctrlPr>
                      </m:fPr>
                      <m:num>
                        <m:sSub>
                          <m:sSubPr>
                            <m:ctrlPr>
                              <a:rPr lang="ar-AE" sz="1400" i="1">
                                <a:latin typeface="Cambria Math" panose="02040503050406030204" pitchFamily="18" charset="0"/>
                              </a:rPr>
                            </m:ctrlPr>
                          </m:sSubPr>
                          <m:e>
                            <m:r>
                              <a:rPr lang="ar-AE" sz="1400" i="1">
                                <a:latin typeface="Cambria Math" panose="02040503050406030204" pitchFamily="18" charset="0"/>
                              </a:rPr>
                              <m:t>𝑓</m:t>
                            </m:r>
                          </m:e>
                          <m:sub>
                            <m:r>
                              <a:rPr lang="ar-AE" sz="1400" i="1">
                                <a:latin typeface="Cambria Math" panose="02040503050406030204" pitchFamily="18" charset="0"/>
                              </a:rPr>
                              <m:t>𝑝𝑒𝑎𝑘</m:t>
                            </m:r>
                          </m:sub>
                        </m:sSub>
                      </m:num>
                      <m:den>
                        <m:r>
                          <a:rPr lang="ar-AE" sz="1400">
                            <a:latin typeface="Cambria Math" panose="02040503050406030204" pitchFamily="18" charset="0"/>
                          </a:rPr>
                          <m:t>4</m:t>
                        </m:r>
                      </m:den>
                    </m:f>
                  </m:oMath>
                </a14:m>
                <a:r>
                  <a:rPr lang="en-IN" sz="1400" dirty="0"/>
                  <a:t>= 90/4 Hz =~22.5Hz </a:t>
                </a:r>
              </a:p>
              <a:p>
                <a:r>
                  <a:rPr lang="en-IN" sz="1400" dirty="0"/>
                  <a:t>With </a:t>
                </a:r>
                <a:r>
                  <a:rPr lang="en-IN" sz="1400" dirty="0" err="1"/>
                  <a:t>matlab</a:t>
                </a:r>
                <a:r>
                  <a:rPr lang="en-IN" sz="1400" dirty="0"/>
                  <a:t> I got the value to be 22.6034Hz</a:t>
                </a:r>
                <a:endParaRPr lang="ar-AE" sz="1400" dirty="0"/>
              </a:p>
            </p:txBody>
          </p:sp>
        </mc:Choice>
        <mc:Fallback xmlns="">
          <p:sp>
            <p:nvSpPr>
              <p:cNvPr id="6" name="TextBox 5">
                <a:extLst>
                  <a:ext uri="{FF2B5EF4-FFF2-40B4-BE49-F238E27FC236}">
                    <a16:creationId xmlns:a16="http://schemas.microsoft.com/office/drawing/2014/main" id="{21461B71-25F7-0171-A0F5-DFA702514345}"/>
                  </a:ext>
                </a:extLst>
              </p:cNvPr>
              <p:cNvSpPr txBox="1">
                <a:spLocks noRot="1" noChangeAspect="1" noMove="1" noResize="1" noEditPoints="1" noAdjustHandles="1" noChangeArrowheads="1" noChangeShapeType="1" noTextEdit="1"/>
              </p:cNvSpPr>
              <p:nvPr/>
            </p:nvSpPr>
            <p:spPr>
              <a:xfrm>
                <a:off x="2528810" y="4075471"/>
                <a:ext cx="4572000" cy="2588529"/>
              </a:xfrm>
              <a:prstGeom prst="rect">
                <a:avLst/>
              </a:prstGeom>
              <a:blipFill>
                <a:blip r:embed="rId4"/>
                <a:stretch>
                  <a:fillRect l="-400" t="-472" b="-1651"/>
                </a:stretch>
              </a:blipFill>
            </p:spPr>
            <p:txBody>
              <a:bodyPr/>
              <a:lstStyle/>
              <a:p>
                <a:r>
                  <a:rPr lang="en-IN">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4238" y="4230093"/>
            <a:ext cx="3112935" cy="1800165"/>
          </a:xfrm>
        </p:spPr>
        <p:txBody>
          <a:bodyPr anchor="t">
            <a:normAutofit/>
          </a:bodyPr>
          <a:lstStyle/>
          <a:p>
            <a:pPr algn="r"/>
            <a:r>
              <a:rPr lang="en-IN" sz="3500"/>
              <a:t>Final Receiver Design</a:t>
            </a:r>
          </a:p>
        </p:txBody>
      </p:sp>
      <p:pic>
        <p:nvPicPr>
          <p:cNvPr id="4" name="Picture 3">
            <a:extLst>
              <a:ext uri="{FF2B5EF4-FFF2-40B4-BE49-F238E27FC236}">
                <a16:creationId xmlns:a16="http://schemas.microsoft.com/office/drawing/2014/main" id="{502F092D-D9C9-0C00-7BCA-AF2E7347650A}"/>
              </a:ext>
            </a:extLst>
          </p:cNvPr>
          <p:cNvPicPr>
            <a:picLocks noChangeAspect="1"/>
          </p:cNvPicPr>
          <p:nvPr/>
        </p:nvPicPr>
        <p:blipFill>
          <a:blip r:embed="rId2"/>
          <a:stretch>
            <a:fillRect/>
          </a:stretch>
        </p:blipFill>
        <p:spPr>
          <a:xfrm>
            <a:off x="417444" y="733210"/>
            <a:ext cx="8354833" cy="2903304"/>
          </a:xfrm>
          <a:prstGeom prst="rect">
            <a:avLst/>
          </a:prstGeom>
        </p:spPr>
      </p:pic>
      <p:sp>
        <p:nvSpPr>
          <p:cNvPr id="3" name="Content Placeholder 2"/>
          <p:cNvSpPr>
            <a:spLocks noGrp="1"/>
          </p:cNvSpPr>
          <p:nvPr>
            <p:ph idx="1"/>
          </p:nvPr>
        </p:nvSpPr>
        <p:spPr>
          <a:xfrm>
            <a:off x="3934811" y="4230094"/>
            <a:ext cx="4676451" cy="1800164"/>
          </a:xfrm>
        </p:spPr>
        <p:txBody>
          <a:bodyPr anchor="t">
            <a:normAutofit/>
          </a:bodyPr>
          <a:lstStyle/>
          <a:p>
            <a:pPr>
              <a:lnSpc>
                <a:spcPct val="90000"/>
              </a:lnSpc>
            </a:pPr>
            <a:r>
              <a:rPr lang="en-IN" sz="1300"/>
              <a:t>Flow:</a:t>
            </a:r>
          </a:p>
          <a:p>
            <a:pPr>
              <a:lnSpc>
                <a:spcPct val="90000"/>
              </a:lnSpc>
            </a:pPr>
            <a:r>
              <a:rPr lang="en-IN" sz="1300"/>
              <a:t>File → Throttle → CFO Correction → RRC → Symbol Sync → Decoder → File Sink</a:t>
            </a:r>
          </a:p>
          <a:p>
            <a:pPr>
              <a:lnSpc>
                <a:spcPct val="90000"/>
              </a:lnSpc>
            </a:pPr>
            <a:endParaRPr lang="en-IN" sz="1300"/>
          </a:p>
          <a:p>
            <a:pPr>
              <a:lnSpc>
                <a:spcPct val="90000"/>
              </a:lnSpc>
            </a:pPr>
            <a:r>
              <a:rPr lang="en-IN" sz="1300"/>
              <a:t>Blocks:</a:t>
            </a:r>
          </a:p>
          <a:p>
            <a:pPr>
              <a:lnSpc>
                <a:spcPct val="90000"/>
              </a:lnSpc>
            </a:pPr>
            <a:r>
              <a:rPr lang="en-IN" sz="1300"/>
              <a:t>• CFO correction using complex exponential</a:t>
            </a:r>
          </a:p>
          <a:p>
            <a:pPr>
              <a:lnSpc>
                <a:spcPct val="90000"/>
              </a:lnSpc>
            </a:pPr>
            <a:r>
              <a:rPr lang="en-IN" sz="1300"/>
              <a:t>• RRC for filtering</a:t>
            </a:r>
          </a:p>
          <a:p>
            <a:pPr>
              <a:lnSpc>
                <a:spcPct val="90000"/>
              </a:lnSpc>
            </a:pPr>
            <a:r>
              <a:rPr lang="en-IN" sz="1300"/>
              <a:t>• Gardner TED for timing</a:t>
            </a:r>
          </a:p>
        </p:txBody>
      </p:sp>
      <p:sp>
        <p:nvSpPr>
          <p:cNvPr id="11" name="Rectangle 10">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9143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5" y="6406115"/>
            <a:ext cx="3057523"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3A01E8A-28AC-84B2-0341-C5FD2A374AD8}"/>
                  </a:ext>
                </a:extLst>
              </p:cNvPr>
              <p:cNvSpPr txBox="1"/>
              <p:nvPr/>
            </p:nvSpPr>
            <p:spPr>
              <a:xfrm>
                <a:off x="108155" y="285135"/>
                <a:ext cx="4758813" cy="6012800"/>
              </a:xfrm>
              <a:prstGeom prst="rect">
                <a:avLst/>
              </a:prstGeom>
              <a:noFill/>
            </p:spPr>
            <p:txBody>
              <a:bodyPr wrap="square" rtlCol="0">
                <a:spAutoFit/>
              </a:bodyPr>
              <a:lstStyle/>
              <a:p>
                <a:r>
                  <a:rPr lang="en-IN" sz="1200" b="1" dirty="0"/>
                  <a:t>Receiver Architecture:</a:t>
                </a:r>
              </a:p>
              <a:p>
                <a:r>
                  <a:rPr lang="en-IN" sz="1200" dirty="0"/>
                  <a:t>The receiver consists of a sequence of processing blocks including File Source, Throttle, Carrier Frequency Offset (CFO) correction, Root Raised Cosine (RRC) filtering, Symbol Synchronization, Constellation visualization and decoding, and finally a File Sink for storing the output. This flow ensures proper conditioning, synchronization, and decoding of the received signal.</a:t>
                </a:r>
              </a:p>
              <a:p>
                <a:br>
                  <a:rPr lang="en-IN" sz="1200" dirty="0"/>
                </a:br>
                <a:endParaRPr lang="en-IN" sz="1200" dirty="0"/>
              </a:p>
              <a:p>
                <a:r>
                  <a:rPr lang="en-IN" sz="1200" b="1" dirty="0"/>
                  <a:t>File Source and Throttle:</a:t>
                </a:r>
              </a:p>
              <a:p>
                <a:r>
                  <a:rPr lang="en-IN" sz="1200" dirty="0"/>
                  <a:t>The File Source block is used to read the recorded IQ samples and provide the complex baseband signal as input. The Throttle block limits the data rate to the specified sampling rate (2.048 MHz), ensuring stable and controlled processing during offline execution.</a:t>
                </a:r>
              </a:p>
              <a:p>
                <a:br>
                  <a:rPr lang="en-IN" sz="1200" dirty="0"/>
                </a:br>
                <a:endParaRPr lang="en-IN" sz="1200" dirty="0"/>
              </a:p>
              <a:p>
                <a:r>
                  <a:rPr lang="en-IN" sz="1200" b="1" dirty="0"/>
                  <a:t>Carrier Frequency Offset Correction:</a:t>
                </a:r>
              </a:p>
              <a:p>
                <a:r>
                  <a:rPr lang="en-IN" sz="1200" dirty="0"/>
                  <a:t>The received signal may contain a small carrier frequency offset. This is corrected by generating a complex exponential signal using cosine and sine components and multiplying it with the received signal. Mathematically, the corrected signal is expressed as</a:t>
                </a:r>
                <a:br>
                  <a:rPr lang="en-IN" sz="1200" dirty="0"/>
                </a:b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𝑥</m:t>
                        </m:r>
                      </m:e>
                      <m:sub>
                        <m:r>
                          <a:rPr lang="ar-AE" sz="1200" i="1">
                            <a:latin typeface="Cambria Math" panose="02040503050406030204" pitchFamily="18" charset="0"/>
                          </a:rPr>
                          <m:t>𝑐𝑜𝑟𝑟𝑒𝑐𝑡𝑒𝑑</m:t>
                        </m:r>
                      </m:sub>
                    </m:sSub>
                    <m:d>
                      <m:dPr>
                        <m:ctrlPr>
                          <a:rPr lang="ar-AE" sz="1200" i="1">
                            <a:latin typeface="Cambria Math" panose="02040503050406030204" pitchFamily="18" charset="0"/>
                          </a:rPr>
                        </m:ctrlPr>
                      </m:dPr>
                      <m:e>
                        <m:r>
                          <a:rPr lang="ar-AE" sz="1200" i="1">
                            <a:latin typeface="Cambria Math" panose="02040503050406030204" pitchFamily="18" charset="0"/>
                          </a:rPr>
                          <m:t>𝑡</m:t>
                        </m:r>
                      </m:e>
                    </m:d>
                    <m:r>
                      <a:rPr lang="ar-AE" sz="1200">
                        <a:latin typeface="Cambria Math" panose="02040503050406030204" pitchFamily="18" charset="0"/>
                      </a:rPr>
                      <m:t>=</m:t>
                    </m:r>
                    <m:r>
                      <a:rPr lang="ar-AE" sz="1200" i="1">
                        <a:latin typeface="Cambria Math" panose="02040503050406030204" pitchFamily="18" charset="0"/>
                      </a:rPr>
                      <m:t>𝑥</m:t>
                    </m:r>
                    <m:d>
                      <m:dPr>
                        <m:ctrlPr>
                          <a:rPr lang="ar-AE" sz="1200" i="1">
                            <a:latin typeface="Cambria Math" panose="02040503050406030204" pitchFamily="18" charset="0"/>
                          </a:rPr>
                        </m:ctrlPr>
                      </m:dPr>
                      <m:e>
                        <m:r>
                          <a:rPr lang="ar-AE" sz="1200" i="1">
                            <a:latin typeface="Cambria Math" panose="02040503050406030204" pitchFamily="18" charset="0"/>
                          </a:rPr>
                          <m:t>𝑡</m:t>
                        </m:r>
                      </m:e>
                    </m:d>
                    <m:r>
                      <m:rPr>
                        <m:nor/>
                      </m:rPr>
                      <a:rPr lang="ar-AE" sz="1200" i="1"/>
                      <m:t> </m:t>
                    </m:r>
                    <m:sSup>
                      <m:sSupPr>
                        <m:ctrlPr>
                          <a:rPr lang="ar-AE" sz="1200" i="1">
                            <a:latin typeface="Cambria Math" panose="02040503050406030204" pitchFamily="18" charset="0"/>
                          </a:rPr>
                        </m:ctrlPr>
                      </m:sSupPr>
                      <m:e>
                        <m:r>
                          <a:rPr lang="ar-AE" sz="1200" i="1">
                            <a:latin typeface="Cambria Math" panose="02040503050406030204" pitchFamily="18" charset="0"/>
                          </a:rPr>
                          <m:t>𝑒</m:t>
                        </m:r>
                      </m:e>
                      <m:sup>
                        <m:r>
                          <a:rPr lang="ar-AE" sz="1200">
                            <a:latin typeface="Cambria Math" panose="02040503050406030204" pitchFamily="18" charset="0"/>
                          </a:rPr>
                          <m:t>−</m:t>
                        </m:r>
                        <m:r>
                          <a:rPr lang="ar-AE" sz="1200" i="1">
                            <a:latin typeface="Cambria Math" panose="02040503050406030204" pitchFamily="18" charset="0"/>
                          </a:rPr>
                          <m:t>𝑗</m:t>
                        </m:r>
                        <m:r>
                          <a:rPr lang="ar-AE" sz="1200">
                            <a:latin typeface="Cambria Math" panose="02040503050406030204" pitchFamily="18" charset="0"/>
                          </a:rPr>
                          <m:t>2</m:t>
                        </m:r>
                        <m:r>
                          <a:rPr lang="ar-AE" sz="1200" i="1">
                            <a:latin typeface="Cambria Math" panose="02040503050406030204" pitchFamily="18" charset="0"/>
                          </a:rPr>
                          <m:t>𝜋</m:t>
                        </m:r>
                        <m:sSub>
                          <m:sSubPr>
                            <m:ctrlPr>
                              <a:rPr lang="ar-AE" sz="1200" i="1">
                                <a:latin typeface="Cambria Math" panose="02040503050406030204" pitchFamily="18" charset="0"/>
                              </a:rPr>
                            </m:ctrlPr>
                          </m:sSubPr>
                          <m:e>
                            <m:r>
                              <a:rPr lang="ar-AE" sz="1200" i="1">
                                <a:latin typeface="Cambria Math" panose="02040503050406030204" pitchFamily="18" charset="0"/>
                              </a:rPr>
                              <m:t>𝑓</m:t>
                            </m:r>
                          </m:e>
                          <m:sub>
                            <m:r>
                              <a:rPr lang="ar-AE" sz="1200" i="1">
                                <a:latin typeface="Cambria Math" panose="02040503050406030204" pitchFamily="18" charset="0"/>
                              </a:rPr>
                              <m:t>𝑐𝑓𝑜</m:t>
                            </m:r>
                          </m:sub>
                        </m:sSub>
                        <m:r>
                          <a:rPr lang="ar-AE" sz="1200" i="1">
                            <a:latin typeface="Cambria Math" panose="02040503050406030204" pitchFamily="18" charset="0"/>
                          </a:rPr>
                          <m:t>𝑡</m:t>
                        </m:r>
                      </m:sup>
                    </m:sSup>
                  </m:oMath>
                </a14:m>
                <a:r>
                  <a:rPr lang="ar-AE" sz="1200" dirty="0"/>
                  <a:t>.</a:t>
                </a:r>
                <a:br>
                  <a:rPr lang="ar-AE" sz="1200" dirty="0"/>
                </a:br>
                <a:r>
                  <a:rPr lang="en-IN" sz="1200" dirty="0"/>
                  <a:t>The estimated CFO is approximately </a:t>
                </a:r>
                <a:r>
                  <a:rPr lang="en-IN" sz="1200" b="1" dirty="0"/>
                  <a:t>22.63 Hz</a:t>
                </a:r>
                <a:r>
                  <a:rPr lang="en-IN" sz="1200" dirty="0"/>
                  <a:t>, which is small but still corrected to improve system performance.</a:t>
                </a:r>
              </a:p>
              <a:p>
                <a:br>
                  <a:rPr lang="en-IN" sz="1200" dirty="0"/>
                </a:br>
                <a:endParaRPr lang="en-IN" sz="1200" dirty="0"/>
              </a:p>
              <a:p>
                <a:r>
                  <a:rPr lang="en-IN" sz="1200" b="1" dirty="0"/>
                  <a:t>Matched Filtering (RRC Filter):</a:t>
                </a:r>
              </a:p>
              <a:p>
                <a:r>
                  <a:rPr lang="en-IN" sz="1200" dirty="0"/>
                  <a:t>A Root Raised Cosine (RRC) filter is used for matched filtering to reduce noise and inter-symbol interference (ISI). Based on prior estimation, the symbol rate is approximately </a:t>
                </a:r>
                <a:r>
                  <a:rPr lang="en-IN" sz="1200" b="1" dirty="0"/>
                  <a:t>256 kHz</a:t>
                </a:r>
                <a:r>
                  <a:rPr lang="en-IN" sz="1200" dirty="0"/>
                  <a:t>, and the samples per symbol are </a:t>
                </a:r>
                <a:r>
                  <a:rPr lang="en-IN" sz="1200" b="1" dirty="0"/>
                  <a:t>8</a:t>
                </a:r>
                <a:r>
                  <a:rPr lang="en-IN" sz="1200" dirty="0"/>
                  <a:t>. The RRC filter shapes the signal optimally for symbol detection.</a:t>
                </a:r>
              </a:p>
              <a:p>
                <a:endParaRPr lang="en-IN" sz="1200" dirty="0"/>
              </a:p>
            </p:txBody>
          </p:sp>
        </mc:Choice>
        <mc:Fallback xmlns="">
          <p:sp>
            <p:nvSpPr>
              <p:cNvPr id="2" name="TextBox 1">
                <a:extLst>
                  <a:ext uri="{FF2B5EF4-FFF2-40B4-BE49-F238E27FC236}">
                    <a16:creationId xmlns:a16="http://schemas.microsoft.com/office/drawing/2014/main" id="{63A01E8A-28AC-84B2-0341-C5FD2A374AD8}"/>
                  </a:ext>
                </a:extLst>
              </p:cNvPr>
              <p:cNvSpPr txBox="1">
                <a:spLocks noRot="1" noChangeAspect="1" noMove="1" noResize="1" noEditPoints="1" noAdjustHandles="1" noChangeArrowheads="1" noChangeShapeType="1" noTextEdit="1"/>
              </p:cNvSpPr>
              <p:nvPr/>
            </p:nvSpPr>
            <p:spPr>
              <a:xfrm>
                <a:off x="108155" y="285135"/>
                <a:ext cx="4758813" cy="6012800"/>
              </a:xfrm>
              <a:prstGeom prst="rect">
                <a:avLst/>
              </a:prstGeom>
              <a:blipFill>
                <a:blip r:embed="rId2"/>
                <a:stretch>
                  <a:fillRect l="-128" t="-101" r="-513"/>
                </a:stretch>
              </a:blipFill>
            </p:spPr>
            <p:txBody>
              <a:bodyPr/>
              <a:lstStyle/>
              <a:p>
                <a:r>
                  <a:rPr lang="en-IN">
                    <a:noFill/>
                  </a:rPr>
                  <a:t> </a:t>
                </a:r>
              </a:p>
            </p:txBody>
          </p:sp>
        </mc:Fallback>
      </mc:AlternateContent>
      <p:sp>
        <p:nvSpPr>
          <p:cNvPr id="3" name="TextBox 2">
            <a:extLst>
              <a:ext uri="{FF2B5EF4-FFF2-40B4-BE49-F238E27FC236}">
                <a16:creationId xmlns:a16="http://schemas.microsoft.com/office/drawing/2014/main" id="{C0160778-12A5-6364-7818-19FF97AF4EBC}"/>
              </a:ext>
            </a:extLst>
          </p:cNvPr>
          <p:cNvSpPr txBox="1"/>
          <p:nvPr/>
        </p:nvSpPr>
        <p:spPr>
          <a:xfrm>
            <a:off x="4994787" y="285135"/>
            <a:ext cx="4041058" cy="5262979"/>
          </a:xfrm>
          <a:prstGeom prst="rect">
            <a:avLst/>
          </a:prstGeom>
          <a:noFill/>
        </p:spPr>
        <p:txBody>
          <a:bodyPr wrap="square" rtlCol="0">
            <a:spAutoFit/>
          </a:bodyPr>
          <a:lstStyle/>
          <a:p>
            <a:r>
              <a:rPr lang="en-US" sz="1200" b="1" dirty="0"/>
              <a:t>Symbol Synchronization:</a:t>
            </a:r>
          </a:p>
          <a:p>
            <a:r>
              <a:rPr lang="en-US" sz="1200" dirty="0"/>
              <a:t>Symbol timing recovery is performed using the </a:t>
            </a:r>
            <a:r>
              <a:rPr lang="en-US" sz="1200" b="1" dirty="0"/>
              <a:t>Gardner Timing Error Detector</a:t>
            </a:r>
            <a:r>
              <a:rPr lang="en-US" sz="1200" dirty="0"/>
              <a:t>. This block aligns the sampling instants with the symbol boundaries and converts the signal to one sample per symbol, which is essential for accurate decoding.</a:t>
            </a:r>
          </a:p>
          <a:p>
            <a:br>
              <a:rPr lang="en-US" sz="1200" dirty="0"/>
            </a:br>
            <a:endParaRPr lang="en-US" sz="1200" dirty="0"/>
          </a:p>
          <a:p>
            <a:r>
              <a:rPr lang="en-US" sz="1200" b="1" dirty="0"/>
              <a:t>Constellation Analysis and Decoding:</a:t>
            </a:r>
          </a:p>
          <a:p>
            <a:r>
              <a:rPr lang="en-US" sz="1200" dirty="0"/>
              <a:t>The QT GUI Constellation Sink is used to visualize the signal constellation. From the observed four distinct clusters, the modulation scheme is identified as </a:t>
            </a:r>
            <a:r>
              <a:rPr lang="en-US" sz="1200" b="1" dirty="0"/>
              <a:t>QPSK</a:t>
            </a:r>
            <a:r>
              <a:rPr lang="en-US" sz="1200" dirty="0"/>
              <a:t>. The Constellation Decoder then maps the received symbols to discrete values (0–3) based on the QPSK constellation.</a:t>
            </a:r>
          </a:p>
          <a:p>
            <a:br>
              <a:rPr lang="en-US" sz="1200" dirty="0"/>
            </a:br>
            <a:endParaRPr lang="en-US" sz="1200" dirty="0"/>
          </a:p>
          <a:p>
            <a:r>
              <a:rPr lang="en-US" sz="1200" b="1" dirty="0"/>
              <a:t>Output Storage:</a:t>
            </a:r>
          </a:p>
          <a:p>
            <a:r>
              <a:rPr lang="en-US" sz="1200" dirty="0"/>
              <a:t>The decoded symbols are stored in a binary file using the File Sink block. Since bit repacking is not used, the stored output represents symbol values rather than individual bits. Each symbol corresponds to two bits in QPSK modulation.</a:t>
            </a:r>
          </a:p>
          <a:p>
            <a:br>
              <a:rPr lang="en-US" sz="1200" dirty="0"/>
            </a:br>
            <a:endParaRPr lang="en-US" sz="1200" dirty="0"/>
          </a:p>
          <a:p>
            <a:r>
              <a:rPr lang="en-US" sz="1200" b="1" dirty="0"/>
              <a:t>Estimated Parameters:</a:t>
            </a:r>
          </a:p>
          <a:p>
            <a:r>
              <a:rPr lang="en-US" sz="1200" dirty="0"/>
              <a:t>The following parameters were successfully estimated from the received signal: sampling rate of </a:t>
            </a:r>
            <a:r>
              <a:rPr lang="en-US" sz="1200" b="1" dirty="0"/>
              <a:t>2.048 MHz</a:t>
            </a:r>
            <a:r>
              <a:rPr lang="en-US" sz="1200" dirty="0"/>
              <a:t>, symbol rate of approximately </a:t>
            </a:r>
            <a:r>
              <a:rPr lang="en-US" sz="1200" b="1" dirty="0"/>
              <a:t>256 kHz</a:t>
            </a:r>
            <a:r>
              <a:rPr lang="en-US" sz="1200" dirty="0"/>
              <a:t>, samples per symbol equal to </a:t>
            </a:r>
            <a:r>
              <a:rPr lang="en-US" sz="1200" b="1" dirty="0"/>
              <a:t>8</a:t>
            </a:r>
            <a:r>
              <a:rPr lang="en-US" sz="1200" dirty="0"/>
              <a:t>, carrier frequency offset of approximately </a:t>
            </a:r>
            <a:r>
              <a:rPr lang="en-US" sz="1200" b="1" dirty="0"/>
              <a:t>22.63 Hz</a:t>
            </a:r>
            <a:r>
              <a:rPr lang="en-US" sz="1200" dirty="0"/>
              <a:t>, and modulation identified as </a:t>
            </a:r>
            <a:r>
              <a:rPr lang="en-US" sz="1200" b="1" dirty="0"/>
              <a:t>QPSK</a:t>
            </a:r>
            <a:r>
              <a:rPr lang="en-US" sz="1200" dirty="0"/>
              <a:t>.</a:t>
            </a:r>
            <a:endParaRPr lang="en-IN" sz="1200" dirty="0"/>
          </a:p>
        </p:txBody>
      </p:sp>
    </p:spTree>
    <p:extLst>
      <p:ext uri="{BB962C8B-B14F-4D97-AF65-F5344CB8AC3E}">
        <p14:creationId xmlns:p14="http://schemas.microsoft.com/office/powerpoint/2010/main" val="3654327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7">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41754"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19">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34896"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278320" y="1161288"/>
            <a:ext cx="2578608" cy="1239012"/>
          </a:xfrm>
        </p:spPr>
        <p:txBody>
          <a:bodyPr anchor="ctr">
            <a:normAutofit/>
          </a:bodyPr>
          <a:lstStyle/>
          <a:p>
            <a:r>
              <a:rPr lang="en-IN" sz="2400"/>
              <a:t>Results</a:t>
            </a:r>
          </a:p>
        </p:txBody>
      </p:sp>
      <p:sp>
        <p:nvSpPr>
          <p:cNvPr id="22" name="Rectangle 21">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 name="Rectangle 23">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919" y="2443480"/>
            <a:ext cx="25374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278320" y="2718054"/>
            <a:ext cx="2579180" cy="3207258"/>
          </a:xfrm>
        </p:spPr>
        <p:txBody>
          <a:bodyPr anchor="t">
            <a:normAutofit/>
          </a:bodyPr>
          <a:lstStyle/>
          <a:p>
            <a:r>
              <a:rPr lang="en-IN" sz="1500"/>
              <a:t>Estimated Parameters:</a:t>
            </a:r>
          </a:p>
          <a:p>
            <a:r>
              <a:rPr lang="en-IN" sz="1500"/>
              <a:t>• Symbol Rate: 256 kHz</a:t>
            </a:r>
          </a:p>
          <a:p>
            <a:r>
              <a:rPr lang="en-IN" sz="1500"/>
              <a:t>• SPS: 8</a:t>
            </a:r>
          </a:p>
          <a:p>
            <a:r>
              <a:rPr lang="en-IN" sz="1500"/>
              <a:t>• CFO: 22.63 Hz</a:t>
            </a:r>
          </a:p>
          <a:p>
            <a:r>
              <a:rPr lang="en-IN" sz="1500"/>
              <a:t>• Modulation: QPSK</a:t>
            </a:r>
          </a:p>
          <a:p>
            <a:endParaRPr lang="en-IN" sz="1500"/>
          </a:p>
          <a:p>
            <a:r>
              <a:rPr lang="en-IN" sz="1500"/>
              <a:t>Output:</a:t>
            </a:r>
          </a:p>
          <a:p>
            <a:r>
              <a:rPr lang="en-IN" sz="1500"/>
              <a:t>• Symbols stored (0–3)</a:t>
            </a:r>
          </a:p>
          <a:p>
            <a:r>
              <a:rPr lang="en-IN" sz="1500"/>
              <a:t>• Each symbol = 2 bits</a:t>
            </a:r>
          </a:p>
        </p:txBody>
      </p:sp>
      <p:pic>
        <p:nvPicPr>
          <p:cNvPr id="4" name="Picture 3">
            <a:extLst>
              <a:ext uri="{FF2B5EF4-FFF2-40B4-BE49-F238E27FC236}">
                <a16:creationId xmlns:a16="http://schemas.microsoft.com/office/drawing/2014/main" id="{72E5F4EF-F44A-C55D-0A18-CE10D9B6B554}"/>
              </a:ext>
            </a:extLst>
          </p:cNvPr>
          <p:cNvPicPr>
            <a:picLocks noChangeAspect="1"/>
          </p:cNvPicPr>
          <p:nvPr/>
        </p:nvPicPr>
        <p:blipFill>
          <a:blip r:embed="rId2"/>
          <a:stretch>
            <a:fillRect/>
          </a:stretch>
        </p:blipFill>
        <p:spPr>
          <a:xfrm>
            <a:off x="4572000" y="3936083"/>
            <a:ext cx="3747467" cy="2679438"/>
          </a:xfrm>
          <a:prstGeom prst="rect">
            <a:avLst/>
          </a:prstGeom>
        </p:spPr>
      </p:pic>
      <p:pic>
        <p:nvPicPr>
          <p:cNvPr id="6" name="Picture 5">
            <a:extLst>
              <a:ext uri="{FF2B5EF4-FFF2-40B4-BE49-F238E27FC236}">
                <a16:creationId xmlns:a16="http://schemas.microsoft.com/office/drawing/2014/main" id="{DE8795A1-B980-9494-6AD2-2BA68359245A}"/>
              </a:ext>
            </a:extLst>
          </p:cNvPr>
          <p:cNvPicPr>
            <a:picLocks noChangeAspect="1"/>
          </p:cNvPicPr>
          <p:nvPr/>
        </p:nvPicPr>
        <p:blipFill>
          <a:blip r:embed="rId3"/>
          <a:stretch>
            <a:fillRect/>
          </a:stretch>
        </p:blipFill>
        <p:spPr>
          <a:xfrm>
            <a:off x="3459503" y="140521"/>
            <a:ext cx="5684497" cy="32259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TotalTime>
  <Words>811</Words>
  <Application>Microsoft Office PowerPoint</Application>
  <PresentationFormat>On-screen Show (4:3)</PresentationFormat>
  <Paragraphs>83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 Math</vt:lpstr>
      <vt:lpstr>Office Theme</vt:lpstr>
      <vt:lpstr>PLUTO SDR Receiver Design</vt:lpstr>
      <vt:lpstr>Symbol Rate &amp; SPS Estimation</vt:lpstr>
      <vt:lpstr>Constellation Estimation</vt:lpstr>
      <vt:lpstr>CFO Estimation</vt:lpstr>
      <vt:lpstr>Final Receiver Design</vt:lpstr>
      <vt:lpstr>PowerPoint Presentation</vt:lpstr>
      <vt:lpstr>Results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Mahitha</dc:creator>
  <cp:keywords/>
  <dc:description>generated using python-pptx</dc:description>
  <cp:lastModifiedBy>K. Mahitha</cp:lastModifiedBy>
  <cp:revision>3</cp:revision>
  <dcterms:created xsi:type="dcterms:W3CDTF">2013-01-27T09:14:16Z</dcterms:created>
  <dcterms:modified xsi:type="dcterms:W3CDTF">2026-04-24T18:46:30Z</dcterms:modified>
  <cp:category/>
</cp:coreProperties>
</file>